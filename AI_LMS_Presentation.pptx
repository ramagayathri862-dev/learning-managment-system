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6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120640" cy="5120640"/>
          </a:xfrm>
          <a:prstGeom prst="ellipse">
            <a:avLst/>
          </a:prstGeom>
          <a:solidFill>
            <a:srgbClr val="241D5C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640080"/>
            <a:ext cx="3474720" cy="3474720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685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PROJECT PRESENTATION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88720"/>
            <a:ext cx="8778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AI-Driven Learning</a:t>
            </a:r>
            <a:endParaRPr lang="en-US" sz="4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System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063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E7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Platform for Personalized and Adaptive Learning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977640"/>
            <a:ext cx="1874520" cy="777240"/>
          </a:xfrm>
          <a:prstGeom prst="roundRect">
            <a:avLst>
              <a:gd name="adj" fmla="val 11765"/>
            </a:avLst>
          </a:prstGeom>
          <a:solidFill>
            <a:srgbClr val="241D5C"/>
          </a:solidFill>
          <a:ln w="12700">
            <a:solidFill>
              <a:srgbClr val="3B336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97764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606040" y="4366260"/>
            <a:ext cx="320040" cy="0"/>
          </a:xfrm>
          <a:prstGeom prst="line">
            <a:avLst/>
          </a:prstGeom>
          <a:noFill/>
          <a:ln w="25400">
            <a:solidFill>
              <a:srgbClr val="9089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5400000">
            <a:off x="2907792" y="4302252"/>
            <a:ext cx="128016" cy="128016"/>
          </a:xfrm>
          <a:prstGeom prst="triangle">
            <a:avLst/>
          </a:prstGeom>
          <a:solidFill>
            <a:srgbClr val="9089C4"/>
          </a:solidFill>
          <a:ln/>
        </p:spPr>
      </p:sp>
      <p:sp>
        <p:nvSpPr>
          <p:cNvPr id="11" name="Shape 9"/>
          <p:cNvSpPr/>
          <p:nvPr/>
        </p:nvSpPr>
        <p:spPr>
          <a:xfrm>
            <a:off x="2926080" y="3977640"/>
            <a:ext cx="1874520" cy="777240"/>
          </a:xfrm>
          <a:prstGeom prst="roundRect">
            <a:avLst>
              <a:gd name="adj" fmla="val 11765"/>
            </a:avLst>
          </a:prstGeom>
          <a:solidFill>
            <a:srgbClr val="241D5C"/>
          </a:solidFill>
          <a:ln w="12700">
            <a:solidFill>
              <a:srgbClr val="3B336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26080" y="397764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800600" y="4366260"/>
            <a:ext cx="320040" cy="0"/>
          </a:xfrm>
          <a:prstGeom prst="line">
            <a:avLst/>
          </a:prstGeom>
          <a:noFill/>
          <a:ln w="25400">
            <a:solidFill>
              <a:srgbClr val="9089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5400000">
            <a:off x="5102352" y="4302252"/>
            <a:ext cx="128016" cy="128016"/>
          </a:xfrm>
          <a:prstGeom prst="triangle">
            <a:avLst/>
          </a:prstGeom>
          <a:solidFill>
            <a:srgbClr val="9089C4"/>
          </a:solidFill>
          <a:ln/>
        </p:spPr>
      </p:sp>
      <p:sp>
        <p:nvSpPr>
          <p:cNvPr id="15" name="Shape 13"/>
          <p:cNvSpPr/>
          <p:nvPr/>
        </p:nvSpPr>
        <p:spPr>
          <a:xfrm>
            <a:off x="5120640" y="3977640"/>
            <a:ext cx="1874520" cy="777240"/>
          </a:xfrm>
          <a:prstGeom prst="roundRect">
            <a:avLst>
              <a:gd name="adj" fmla="val 11765"/>
            </a:avLst>
          </a:prstGeom>
          <a:solidFill>
            <a:srgbClr val="241D5C"/>
          </a:solidFill>
          <a:ln w="12700">
            <a:solidFill>
              <a:srgbClr val="3B336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20640" y="397764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995160" y="4366260"/>
            <a:ext cx="320040" cy="0"/>
          </a:xfrm>
          <a:prstGeom prst="line">
            <a:avLst/>
          </a:prstGeom>
          <a:noFill/>
          <a:ln w="25400">
            <a:solidFill>
              <a:srgbClr val="9089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5400000">
            <a:off x="7296912" y="4302252"/>
            <a:ext cx="128016" cy="128016"/>
          </a:xfrm>
          <a:prstGeom prst="triangle">
            <a:avLst/>
          </a:prstGeom>
          <a:solidFill>
            <a:srgbClr val="9089C4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0" y="3977640"/>
            <a:ext cx="1874520" cy="777240"/>
          </a:xfrm>
          <a:prstGeom prst="roundRect">
            <a:avLst>
              <a:gd name="adj" fmla="val 11765"/>
            </a:avLst>
          </a:prstGeom>
          <a:solidFill>
            <a:srgbClr val="7C3AED"/>
          </a:solidFill>
          <a:ln w="12700">
            <a:solidFill>
              <a:srgbClr val="3B336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0" y="397764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31520" y="5074920"/>
            <a:ext cx="10698480" cy="1371600"/>
          </a:xfrm>
          <a:prstGeom prst="roundRect">
            <a:avLst>
              <a:gd name="adj" fmla="val 5333"/>
            </a:avLst>
          </a:prstGeom>
          <a:solidFill>
            <a:srgbClr val="241D5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0584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55321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 Gayathri
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7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2510030213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3657600" y="55321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Chakrika
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7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2510030285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55321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Chandana
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7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2510030376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961120" y="55321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Srivalli
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7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2510030109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7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Learning Management System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Identification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58952" y="1746504"/>
            <a:ext cx="402336" cy="402336"/>
          </a:xfrm>
          <a:prstGeom prst="ellipse">
            <a:avLst/>
          </a:prstGeom>
          <a:solidFill>
            <a:srgbClr val="E7E1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58952" y="1746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52704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content for every student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819656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6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One-size-fits-all courses ignore individual pace and ability.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58952" y="2532888"/>
            <a:ext cx="402336" cy="402336"/>
          </a:xfrm>
          <a:prstGeom prst="ellipse">
            <a:avLst/>
          </a:prstGeom>
          <a:solidFill>
            <a:srgbClr val="E7E1F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58952" y="2532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31343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topics go unnoticed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6060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6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systematic way to flag exactly where a student struggles.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58952" y="3319272"/>
            <a:ext cx="402336" cy="402336"/>
          </a:xfrm>
          <a:prstGeom prst="ellipse">
            <a:avLst/>
          </a:prstGeom>
          <a:solidFill>
            <a:srgbClr val="E7E1F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58952" y="3319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09981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are generic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39242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6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rarely tailor resources to a learner's real gaps.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58952" y="4105656"/>
            <a:ext cx="402336" cy="402336"/>
          </a:xfrm>
          <a:prstGeom prst="ellipse">
            <a:avLst/>
          </a:prstGeom>
          <a:solidFill>
            <a:srgbClr val="E7E1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58952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8862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is tracked manually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417880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6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Instructors monitor performance by hand, which does not scale.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58952" y="4892040"/>
            <a:ext cx="402336" cy="402336"/>
          </a:xfrm>
          <a:prstGeom prst="ellipse">
            <a:avLst/>
          </a:prstGeom>
          <a:solidFill>
            <a:srgbClr val="E7E1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58952" y="4892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467258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predictive insight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496519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6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LMS tools react to results instead of anticipating them.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178040" y="1600200"/>
            <a:ext cx="4389120" cy="4160520"/>
          </a:xfrm>
          <a:prstGeom prst="roundRect">
            <a:avLst>
              <a:gd name="adj" fmla="val 2198"/>
            </a:avLst>
          </a:prstGeom>
          <a:solidFill>
            <a:srgbClr val="1B164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498080" y="1828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0" y="21945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8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weak in Java Arrays, while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B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8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weak in DBMS.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498080" y="3063240"/>
            <a:ext cx="3749040" cy="0"/>
          </a:xfrm>
          <a:prstGeom prst="line">
            <a:avLst/>
          </a:prstGeom>
          <a:noFill/>
          <a:ln w="12700">
            <a:solidFill>
              <a:srgbClr val="3B336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498080" y="32461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7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traditional LMS gives both students identical content.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498080" y="3977640"/>
            <a:ext cx="3749040" cy="1508760"/>
          </a:xfrm>
          <a:prstGeom prst="roundRect">
            <a:avLst>
              <a:gd name="adj" fmla="val 4848"/>
            </a:avLst>
          </a:prstGeom>
          <a:solidFill>
            <a:srgbClr val="7C3AE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726680" y="4114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9E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SYSTEM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7726680" y="43891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identifies each student's weakness and recommends a different, personalized learning path.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6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Learning Management System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6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536192"/>
            <a:ext cx="3291840" cy="475488"/>
          </a:xfrm>
          <a:prstGeom prst="roundRect">
            <a:avLst>
              <a:gd name="adj" fmla="val 15385"/>
            </a:avLst>
          </a:prstGeom>
          <a:solidFill>
            <a:srgbClr val="7C3AED"/>
          </a:solidFill>
          <a:ln w="19050">
            <a:solidFill>
              <a:srgbClr val="E7E1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53619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468880" y="2011680"/>
            <a:ext cx="0" cy="128016"/>
          </a:xfrm>
          <a:prstGeom prst="line">
            <a:avLst/>
          </a:prstGeom>
          <a:noFill/>
          <a:ln w="25400">
            <a:solidFill>
              <a:srgbClr val="9089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0">
            <a:off x="2404872" y="2121408"/>
            <a:ext cx="128016" cy="128016"/>
          </a:xfrm>
          <a:prstGeom prst="triangle">
            <a:avLst/>
          </a:prstGeom>
          <a:solidFill>
            <a:srgbClr val="9089C4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139696"/>
            <a:ext cx="32918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E7E1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139696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Registration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468880" y="2615184"/>
            <a:ext cx="0" cy="128016"/>
          </a:xfrm>
          <a:prstGeom prst="line">
            <a:avLst/>
          </a:prstGeom>
          <a:noFill/>
          <a:ln w="25400">
            <a:solidFill>
              <a:srgbClr val="9089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0800000">
            <a:off x="2404872" y="2724912"/>
            <a:ext cx="128016" cy="128016"/>
          </a:xfrm>
          <a:prstGeom prst="triangle">
            <a:avLst/>
          </a:prstGeom>
          <a:solidFill>
            <a:srgbClr val="9089C4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2743200"/>
            <a:ext cx="32918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E7E1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274320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Activities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468880" y="3218688"/>
            <a:ext cx="0" cy="128016"/>
          </a:xfrm>
          <a:prstGeom prst="line">
            <a:avLst/>
          </a:prstGeom>
          <a:noFill/>
          <a:ln w="25400">
            <a:solidFill>
              <a:srgbClr val="9089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10800000">
            <a:off x="2404872" y="3328416"/>
            <a:ext cx="128016" cy="128016"/>
          </a:xfrm>
          <a:prstGeom prst="triangle">
            <a:avLst/>
          </a:prstGeom>
          <a:solidFill>
            <a:srgbClr val="9089C4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3346704"/>
            <a:ext cx="3291840" cy="1188720"/>
          </a:xfrm>
          <a:prstGeom prst="roundRect">
            <a:avLst>
              <a:gd name="adj" fmla="val 6154"/>
            </a:avLst>
          </a:prstGeom>
          <a:solidFill>
            <a:srgbClr val="1B164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51560" y="34472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ANALYTICS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7307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Performance Analysis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9273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Weak Topic Detection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41239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Recommendation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43205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Prediction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468880" y="4535424"/>
            <a:ext cx="0" cy="128016"/>
          </a:xfrm>
          <a:prstGeom prst="line">
            <a:avLst/>
          </a:prstGeom>
          <a:noFill/>
          <a:ln w="25400">
            <a:solidFill>
              <a:srgbClr val="9089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10800000">
            <a:off x="2404872" y="4645152"/>
            <a:ext cx="128016" cy="128016"/>
          </a:xfrm>
          <a:prstGeom prst="triangle">
            <a:avLst/>
          </a:prstGeom>
          <a:solidFill>
            <a:srgbClr val="9089C4"/>
          </a:solidFill>
          <a:ln/>
        </p:spPr>
      </p:sp>
      <p:sp>
        <p:nvSpPr>
          <p:cNvPr id="24" name="Shape 22"/>
          <p:cNvSpPr/>
          <p:nvPr/>
        </p:nvSpPr>
        <p:spPr>
          <a:xfrm>
            <a:off x="822960" y="4663440"/>
            <a:ext cx="32918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E7E1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466344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Learning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2468880" y="5138928"/>
            <a:ext cx="0" cy="128016"/>
          </a:xfrm>
          <a:prstGeom prst="line">
            <a:avLst/>
          </a:prstGeom>
          <a:noFill/>
          <a:ln w="25400">
            <a:solidFill>
              <a:srgbClr val="9089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10800000">
            <a:off x="2404872" y="5248656"/>
            <a:ext cx="128016" cy="128016"/>
          </a:xfrm>
          <a:prstGeom prst="triangle">
            <a:avLst/>
          </a:prstGeom>
          <a:solidFill>
            <a:srgbClr val="9089C4"/>
          </a:solidFill>
          <a:ln/>
        </p:spPr>
      </p:sp>
      <p:sp>
        <p:nvSpPr>
          <p:cNvPr id="28" name="Shape 26"/>
          <p:cNvSpPr/>
          <p:nvPr/>
        </p:nvSpPr>
        <p:spPr>
          <a:xfrm>
            <a:off x="822960" y="5266944"/>
            <a:ext cx="3291840" cy="475488"/>
          </a:xfrm>
          <a:prstGeom prst="roundRect">
            <a:avLst>
              <a:gd name="adj" fmla="val 15385"/>
            </a:avLst>
          </a:prstGeom>
          <a:solidFill>
            <a:srgbClr val="7C3AED"/>
          </a:solidFill>
          <a:ln w="19050">
            <a:solidFill>
              <a:srgbClr val="E7E1F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" y="526694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Performance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617720" y="16002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FEATURES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617720" y="2011680"/>
            <a:ext cx="2133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7E1FA"/>
            </a:solidFill>
            <a:prstDash val="solid"/>
          </a:ln>
          <a:effectLst>
            <a:outerShdw sx="100000" sy="100000" kx="0" ky="0" algn="bl" rotWithShape="0" blurRad="76200" dist="25400" dir="5400000">
              <a:srgbClr val="3B336F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28032" y="2203704"/>
            <a:ext cx="310896" cy="310896"/>
          </a:xfrm>
          <a:prstGeom prst="ellipse">
            <a:avLst/>
          </a:prstGeom>
          <a:solidFill>
            <a:srgbClr val="E7E1F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828032" y="2203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782312" y="2578608"/>
            <a:ext cx="1804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Management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934200" y="2011680"/>
            <a:ext cx="2133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7E1FA"/>
            </a:solidFill>
            <a:prstDash val="solid"/>
          </a:ln>
          <a:effectLst>
            <a:outerShdw sx="100000" sy="100000" kx="0" ky="0" algn="bl" rotWithShape="0" blurRad="76200" dist="25400" dir="5400000">
              <a:srgbClr val="3B336F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144512" y="2203704"/>
            <a:ext cx="310896" cy="310896"/>
          </a:xfrm>
          <a:prstGeom prst="ellipse">
            <a:avLst/>
          </a:prstGeom>
          <a:solidFill>
            <a:srgbClr val="E7E1F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144512" y="2203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7098792" y="2578608"/>
            <a:ext cx="1804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Management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250680" y="2011680"/>
            <a:ext cx="2133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7E1FA"/>
            </a:solidFill>
            <a:prstDash val="solid"/>
          </a:ln>
          <a:effectLst>
            <a:outerShdw sx="100000" sy="100000" kx="0" ky="0" algn="bl" rotWithShape="0" blurRad="76200" dist="25400" dir="5400000">
              <a:srgbClr val="3B336F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460992" y="2203704"/>
            <a:ext cx="310896" cy="310896"/>
          </a:xfrm>
          <a:prstGeom prst="ellipse">
            <a:avLst/>
          </a:prstGeom>
          <a:solidFill>
            <a:srgbClr val="E7E1FA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460992" y="2203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9415272" y="2578608"/>
            <a:ext cx="1804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Content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617720" y="3337560"/>
            <a:ext cx="2133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7E1FA"/>
            </a:solidFill>
            <a:prstDash val="solid"/>
          </a:ln>
          <a:effectLst>
            <a:outerShdw sx="100000" sy="100000" kx="0" ky="0" algn="bl" rotWithShape="0" blurRad="76200" dist="25400" dir="5400000">
              <a:srgbClr val="3B336F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828032" y="3529584"/>
            <a:ext cx="310896" cy="310896"/>
          </a:xfrm>
          <a:prstGeom prst="ellipse">
            <a:avLst/>
          </a:prstGeom>
          <a:solidFill>
            <a:srgbClr val="E7E1FA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4828032" y="3529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4782312" y="3904488"/>
            <a:ext cx="1804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&amp; Assessments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934200" y="3337560"/>
            <a:ext cx="2133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7E1FA"/>
            </a:solidFill>
            <a:prstDash val="solid"/>
          </a:ln>
          <a:effectLst>
            <a:outerShdw sx="100000" sy="100000" kx="0" ky="0" algn="bl" rotWithShape="0" blurRad="76200" dist="25400" dir="5400000">
              <a:srgbClr val="3B336F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7144512" y="3529584"/>
            <a:ext cx="310896" cy="310896"/>
          </a:xfrm>
          <a:prstGeom prst="ellipse">
            <a:avLst/>
          </a:prstGeom>
          <a:solidFill>
            <a:srgbClr val="E7E1FA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7144512" y="3529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7098792" y="3904488"/>
            <a:ext cx="1804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Tracking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9250680" y="3337560"/>
            <a:ext cx="2133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7E1FA"/>
            </a:solidFill>
            <a:prstDash val="solid"/>
          </a:ln>
          <a:effectLst>
            <a:outerShdw sx="100000" sy="100000" kx="0" ky="0" algn="bl" rotWithShape="0" blurRad="76200" dist="25400" dir="5400000">
              <a:srgbClr val="3B336F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9460992" y="3529584"/>
            <a:ext cx="310896" cy="310896"/>
          </a:xfrm>
          <a:prstGeom prst="ellipse">
            <a:avLst/>
          </a:prstGeom>
          <a:solidFill>
            <a:srgbClr val="E7E1FA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9460992" y="3529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9415272" y="3904488"/>
            <a:ext cx="1804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617720" y="4663440"/>
            <a:ext cx="2133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7E1FA"/>
            </a:solidFill>
            <a:prstDash val="solid"/>
          </a:ln>
          <a:effectLst>
            <a:outerShdw sx="100000" sy="100000" kx="0" ky="0" algn="bl" rotWithShape="0" blurRad="76200" dist="25400" dir="5400000">
              <a:srgbClr val="3B336F">
                <a:alpha val="12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828032" y="4855464"/>
            <a:ext cx="310896" cy="310896"/>
          </a:xfrm>
          <a:prstGeom prst="ellipse">
            <a:avLst/>
          </a:prstGeom>
          <a:solidFill>
            <a:srgbClr val="E7E1FA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4828032" y="4855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4782312" y="5230368"/>
            <a:ext cx="1804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Topic Detection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934200" y="4663440"/>
            <a:ext cx="2133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7E1FA"/>
            </a:solidFill>
            <a:prstDash val="solid"/>
          </a:ln>
          <a:effectLst>
            <a:outerShdw sx="100000" sy="100000" kx="0" ky="0" algn="bl" rotWithShape="0" blurRad="76200" dist="25400" dir="5400000">
              <a:srgbClr val="3B336F">
                <a:alpha val="12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7144512" y="4855464"/>
            <a:ext cx="310896" cy="310896"/>
          </a:xfrm>
          <a:prstGeom prst="ellipse">
            <a:avLst/>
          </a:prstGeom>
          <a:solidFill>
            <a:srgbClr val="E7E1FA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7144512" y="4855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62" name="Text 60"/>
          <p:cNvSpPr txBox="1"/>
          <p:nvPr/>
        </p:nvSpPr>
        <p:spPr>
          <a:xfrm>
            <a:off x="7098792" y="5230368"/>
            <a:ext cx="1804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Learning Path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9250680" y="4663440"/>
            <a:ext cx="2133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7E1FA"/>
            </a:solidFill>
            <a:prstDash val="solid"/>
          </a:ln>
          <a:effectLst>
            <a:outerShdw sx="100000" sy="100000" kx="0" ky="0" algn="bl" rotWithShape="0" blurRad="76200" dist="25400" dir="5400000">
              <a:srgbClr val="3B336F">
                <a:alpha val="12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9460992" y="4855464"/>
            <a:ext cx="310896" cy="310896"/>
          </a:xfrm>
          <a:prstGeom prst="ellipse">
            <a:avLst/>
          </a:prstGeom>
          <a:solidFill>
            <a:srgbClr val="E7E1FA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9460992" y="4855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66" name="Text 64"/>
          <p:cNvSpPr txBox="1"/>
          <p:nvPr/>
        </p:nvSpPr>
        <p:spPr>
          <a:xfrm>
            <a:off x="9415272" y="5230368"/>
            <a:ext cx="1804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Dashboard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6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Learning Management System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6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BUILD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Methodology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16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Agile, incremental development — build, test, gather feedback, improve.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04088" y="201168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04088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32688" y="2478024"/>
            <a:ext cx="0" cy="658368"/>
          </a:xfrm>
          <a:prstGeom prst="line">
            <a:avLst/>
          </a:prstGeom>
          <a:noFill/>
          <a:ln w="25400">
            <a:solidFill>
              <a:srgbClr val="E7E1FA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325880" y="184708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148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6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student / teacher needs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04088" y="2852928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04088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32688" y="3319272"/>
            <a:ext cx="0" cy="658368"/>
          </a:xfrm>
          <a:prstGeom prst="line">
            <a:avLst/>
          </a:prstGeom>
          <a:noFill/>
          <a:ln w="25400">
            <a:solidFill>
              <a:srgbClr val="E7E1FA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1325880" y="268833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29900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6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UI, database &amp; architecture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04088" y="3694176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04088" y="3694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32688" y="4160520"/>
            <a:ext cx="0" cy="658368"/>
          </a:xfrm>
          <a:prstGeom prst="line">
            <a:avLst/>
          </a:prstGeom>
          <a:noFill/>
          <a:ln w="25400">
            <a:solidFill>
              <a:srgbClr val="E7E1FA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1325880" y="352958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AI Development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383133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6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data, train models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04088" y="4535424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04088" y="4535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32688" y="5001768"/>
            <a:ext cx="0" cy="658368"/>
          </a:xfrm>
          <a:prstGeom prst="line">
            <a:avLst/>
          </a:prstGeom>
          <a:noFill/>
          <a:ln w="25400">
            <a:solidFill>
              <a:srgbClr val="E7E1FA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1325880" y="437083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Build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325880" y="467258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6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LMS modules &amp; integration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04088" y="5376672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04088" y="5376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521208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Deployment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55138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6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Validate, deploy, evaluate, improve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63640" y="187452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1B164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537960" y="202996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AGILE?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537960" y="233172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lets us develop the system incrementally, test each module in isolation, collect feedback early, and continuously improve the application before final deployment.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3429000"/>
          <a:ext cx="52578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33756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1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 Analysis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3B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 student/teacher needs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1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3B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UI, database &amp; architecture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1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3B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LMS modules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1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Development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3B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recommendation/prediction models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1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3B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 AI with LMS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1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3B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functionality and AI performance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1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3B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the application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1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3B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 the system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3" name="Text 30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6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Learning Management System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6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6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6126480" cy="749808"/>
          </a:xfrm>
          <a:prstGeom prst="roundRect">
            <a:avLst>
              <a:gd name="adj" fmla="val 9756"/>
            </a:avLst>
          </a:prstGeom>
          <a:solidFill>
            <a:srgbClr val="7C3AE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70992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01168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· Teacher · Admin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703320" y="2377440"/>
            <a:ext cx="0" cy="146304"/>
          </a:xfrm>
          <a:prstGeom prst="line">
            <a:avLst/>
          </a:prstGeom>
          <a:noFill/>
          <a:ln w="25400">
            <a:solidFill>
              <a:srgbClr val="6E66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3639312" y="2505456"/>
            <a:ext cx="128016" cy="128016"/>
          </a:xfrm>
          <a:prstGeom prst="triangle">
            <a:avLst/>
          </a:prstGeom>
          <a:solidFill>
            <a:srgbClr val="6E66A8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523744"/>
            <a:ext cx="6126480" cy="749808"/>
          </a:xfrm>
          <a:prstGeom prst="roundRect">
            <a:avLst>
              <a:gd name="adj" fmla="val 9756"/>
            </a:avLst>
          </a:prstGeom>
          <a:solidFill>
            <a:srgbClr val="5B21B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07792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 · Quiz · Dashboard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03320" y="3273552"/>
            <a:ext cx="0" cy="146304"/>
          </a:xfrm>
          <a:prstGeom prst="line">
            <a:avLst/>
          </a:prstGeom>
          <a:noFill/>
          <a:ln w="25400">
            <a:solidFill>
              <a:srgbClr val="6E66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10800000">
            <a:off x="3639312" y="3401568"/>
            <a:ext cx="128016" cy="128016"/>
          </a:xfrm>
          <a:prstGeom prst="triangle">
            <a:avLst/>
          </a:prstGeom>
          <a:solidFill>
            <a:srgbClr val="6E66A8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3419856"/>
            <a:ext cx="6126480" cy="749808"/>
          </a:xfrm>
          <a:prstGeom prst="roundRect">
            <a:avLst>
              <a:gd name="adj" fmla="val 9756"/>
            </a:avLst>
          </a:prstGeom>
          <a:solidFill>
            <a:srgbClr val="45178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3502152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3803904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· Prediction · Weak Topic Detection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03320" y="4169664"/>
            <a:ext cx="0" cy="146304"/>
          </a:xfrm>
          <a:prstGeom prst="line">
            <a:avLst/>
          </a:prstGeom>
          <a:noFill/>
          <a:ln w="25400">
            <a:solidFill>
              <a:srgbClr val="6E66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10800000">
            <a:off x="3639312" y="4297680"/>
            <a:ext cx="128016" cy="128016"/>
          </a:xfrm>
          <a:prstGeom prst="triangle">
            <a:avLst/>
          </a:prstGeom>
          <a:solidFill>
            <a:srgbClr val="6E66A8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4315968"/>
            <a:ext cx="6126480" cy="749808"/>
          </a:xfrm>
          <a:prstGeom prst="roundRect">
            <a:avLst>
              <a:gd name="adj" fmla="val 9756"/>
            </a:avLst>
          </a:prstGeom>
          <a:solidFill>
            <a:srgbClr val="33137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4398264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470001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· Courses · Marks · Quiz · Activity · Progress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703320" y="5065776"/>
            <a:ext cx="0" cy="146304"/>
          </a:xfrm>
          <a:prstGeom prst="line">
            <a:avLst/>
          </a:prstGeom>
          <a:noFill/>
          <a:ln w="25400">
            <a:solidFill>
              <a:srgbClr val="6E66A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10800000">
            <a:off x="3639312" y="5193792"/>
            <a:ext cx="128016" cy="128016"/>
          </a:xfrm>
          <a:prstGeom prst="triangle">
            <a:avLst/>
          </a:prstGeom>
          <a:solidFill>
            <a:srgbClr val="6E66A8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5212080"/>
            <a:ext cx="6126480" cy="749808"/>
          </a:xfrm>
          <a:prstGeom prst="roundRect">
            <a:avLst>
              <a:gd name="adj" fmla="val 9756"/>
            </a:avLst>
          </a:prstGeom>
          <a:solidFill>
            <a:srgbClr val="241D5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400" y="529437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14400" y="559612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persistent storage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162763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178040" y="2011680"/>
            <a:ext cx="4389120" cy="841248"/>
          </a:xfrm>
          <a:prstGeom prst="roundRect">
            <a:avLst>
              <a:gd name="adj" fmla="val 8696"/>
            </a:avLst>
          </a:prstGeom>
          <a:solidFill>
            <a:srgbClr val="241D5C"/>
          </a:solidFill>
          <a:ln w="12700">
            <a:solidFill>
              <a:srgbClr val="3B336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52360" y="21214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452360" y="24140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JavaScript / React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178040" y="3017520"/>
            <a:ext cx="4389120" cy="841248"/>
          </a:xfrm>
          <a:prstGeom prst="roundRect">
            <a:avLst>
              <a:gd name="adj" fmla="val 8696"/>
            </a:avLst>
          </a:prstGeom>
          <a:solidFill>
            <a:srgbClr val="241D5C"/>
          </a:solidFill>
          <a:ln w="12700">
            <a:solidFill>
              <a:srgbClr val="3B336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452360" y="31272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452360" y="341985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Python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178040" y="4023360"/>
            <a:ext cx="4389120" cy="841248"/>
          </a:xfrm>
          <a:prstGeom prst="roundRect">
            <a:avLst>
              <a:gd name="adj" fmla="val 8696"/>
            </a:avLst>
          </a:prstGeom>
          <a:solidFill>
            <a:srgbClr val="241D5C"/>
          </a:solidFill>
          <a:ln w="12700">
            <a:solidFill>
              <a:srgbClr val="3B336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452360" y="41330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7452360" y="442569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MongoDB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178040" y="5029200"/>
            <a:ext cx="4389120" cy="841248"/>
          </a:xfrm>
          <a:prstGeom prst="roundRect">
            <a:avLst>
              <a:gd name="adj" fmla="val 8696"/>
            </a:avLst>
          </a:prstGeom>
          <a:solidFill>
            <a:srgbClr val="241D5C"/>
          </a:solidFill>
          <a:ln w="12700">
            <a:solidFill>
              <a:srgbClr val="3B336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452360" y="5138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7452360" y="543153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 · Scikit-learn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7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Learning Management System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INTELLIGENCE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/ ML Methodology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E7E1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0876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423160" y="1943100"/>
            <a:ext cx="82296" cy="0"/>
          </a:xfrm>
          <a:prstGeom prst="line">
            <a:avLst/>
          </a:prstGeom>
          <a:noFill/>
          <a:ln w="25400">
            <a:solidFill>
              <a:srgbClr val="9089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2487168" y="1879092"/>
            <a:ext cx="128016" cy="128016"/>
          </a:xfrm>
          <a:prstGeom prst="triangle">
            <a:avLst/>
          </a:prstGeom>
          <a:solidFill>
            <a:srgbClr val="9089C4"/>
          </a:solidFill>
          <a:ln/>
        </p:spPr>
      </p:sp>
      <p:sp>
        <p:nvSpPr>
          <p:cNvPr id="8" name="Shape 6"/>
          <p:cNvSpPr/>
          <p:nvPr/>
        </p:nvSpPr>
        <p:spPr>
          <a:xfrm>
            <a:off x="2505456" y="150876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E7E1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05456" y="150876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88536" y="1943100"/>
            <a:ext cx="82296" cy="0"/>
          </a:xfrm>
          <a:prstGeom prst="line">
            <a:avLst/>
          </a:prstGeom>
          <a:noFill/>
          <a:ln w="25400">
            <a:solidFill>
              <a:srgbClr val="9089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5400000">
            <a:off x="4352544" y="1879092"/>
            <a:ext cx="128016" cy="128016"/>
          </a:xfrm>
          <a:prstGeom prst="triangle">
            <a:avLst/>
          </a:prstGeom>
          <a:solidFill>
            <a:srgbClr val="9089C4"/>
          </a:solidFill>
          <a:ln/>
        </p:spPr>
      </p:sp>
      <p:sp>
        <p:nvSpPr>
          <p:cNvPr id="12" name="Shape 10"/>
          <p:cNvSpPr/>
          <p:nvPr/>
        </p:nvSpPr>
        <p:spPr>
          <a:xfrm>
            <a:off x="4370832" y="150876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E7E1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70832" y="150876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53912" y="1943100"/>
            <a:ext cx="82296" cy="0"/>
          </a:xfrm>
          <a:prstGeom prst="line">
            <a:avLst/>
          </a:prstGeom>
          <a:noFill/>
          <a:ln w="25400">
            <a:solidFill>
              <a:srgbClr val="9089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5400000">
            <a:off x="6217920" y="1879092"/>
            <a:ext cx="128016" cy="128016"/>
          </a:xfrm>
          <a:prstGeom prst="triangle">
            <a:avLst/>
          </a:prstGeom>
          <a:solidFill>
            <a:srgbClr val="9089C4"/>
          </a:solidFill>
          <a:ln/>
        </p:spPr>
      </p:sp>
      <p:sp>
        <p:nvSpPr>
          <p:cNvPr id="16" name="Shape 14"/>
          <p:cNvSpPr/>
          <p:nvPr/>
        </p:nvSpPr>
        <p:spPr>
          <a:xfrm>
            <a:off x="6236208" y="150876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E7E1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36208" y="150876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19288" y="1943100"/>
            <a:ext cx="82296" cy="0"/>
          </a:xfrm>
          <a:prstGeom prst="line">
            <a:avLst/>
          </a:prstGeom>
          <a:noFill/>
          <a:ln w="25400">
            <a:solidFill>
              <a:srgbClr val="9089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5400000">
            <a:off x="8083296" y="1879092"/>
            <a:ext cx="128016" cy="128016"/>
          </a:xfrm>
          <a:prstGeom prst="triangle">
            <a:avLst/>
          </a:prstGeom>
          <a:solidFill>
            <a:srgbClr val="9089C4"/>
          </a:solidFill>
          <a:ln/>
        </p:spPr>
      </p:sp>
      <p:sp>
        <p:nvSpPr>
          <p:cNvPr id="20" name="Shape 18"/>
          <p:cNvSpPr/>
          <p:nvPr/>
        </p:nvSpPr>
        <p:spPr>
          <a:xfrm>
            <a:off x="8101584" y="150876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E7E1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01584" y="150876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884664" y="1943100"/>
            <a:ext cx="82296" cy="0"/>
          </a:xfrm>
          <a:prstGeom prst="line">
            <a:avLst/>
          </a:prstGeom>
          <a:noFill/>
          <a:ln w="25400">
            <a:solidFill>
              <a:srgbClr val="9089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5400000">
            <a:off x="9948672" y="1879092"/>
            <a:ext cx="128016" cy="128016"/>
          </a:xfrm>
          <a:prstGeom prst="triangle">
            <a:avLst/>
          </a:prstGeom>
          <a:solidFill>
            <a:srgbClr val="9089C4"/>
          </a:solidFill>
          <a:ln/>
        </p:spPr>
      </p:sp>
      <p:sp>
        <p:nvSpPr>
          <p:cNvPr id="24" name="Shape 22"/>
          <p:cNvSpPr/>
          <p:nvPr/>
        </p:nvSpPr>
        <p:spPr>
          <a:xfrm>
            <a:off x="9966960" y="150876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7C3AED"/>
          </a:solidFill>
          <a:ln w="19050">
            <a:solidFill>
              <a:srgbClr val="E7E1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966960" y="150876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2697480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FUNCTIONS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3127248"/>
            <a:ext cx="457200" cy="457200"/>
          </a:xfrm>
          <a:prstGeom prst="ellipse">
            <a:avLst/>
          </a:prstGeom>
          <a:solidFill>
            <a:srgbClr val="1B164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67512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1280160" y="306324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Topic Detection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1280160" y="3355848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6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topics where a student performs poorly.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67512" y="3904488"/>
            <a:ext cx="457200" cy="457200"/>
          </a:xfrm>
          <a:prstGeom prst="ellipse">
            <a:avLst/>
          </a:prstGeom>
          <a:solidFill>
            <a:srgbClr val="1B164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67512" y="3904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1280160" y="384048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1280160" y="4133088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6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videos, notes, practice questions, and courses.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67512" y="4681728"/>
            <a:ext cx="457200" cy="457200"/>
          </a:xfrm>
          <a:prstGeom prst="ellipse">
            <a:avLst/>
          </a:prstGeom>
          <a:solidFill>
            <a:srgbClr val="1B164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67512" y="4681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1280160" y="461772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Prediction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1280160" y="4910328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6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likely future performance from historical data.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720840" y="2697480"/>
            <a:ext cx="4846320" cy="3063240"/>
          </a:xfrm>
          <a:prstGeom prst="roundRect">
            <a:avLst>
              <a:gd name="adj" fmla="val 2985"/>
            </a:avLst>
          </a:prstGeom>
          <a:solidFill>
            <a:srgbClr val="1B1640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040880" y="2880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7040880" y="3200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Topic: Java Arrays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7040880" y="35661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
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B7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Score</a:t>
            </a:r>
            <a:endParaRPr lang="en-US" sz="1800" dirty="0"/>
          </a:p>
        </p:txBody>
      </p:sp>
      <p:sp>
        <p:nvSpPr>
          <p:cNvPr id="43" name="Text 41"/>
          <p:cNvSpPr txBox="1"/>
          <p:nvPr/>
        </p:nvSpPr>
        <p:spPr>
          <a:xfrm>
            <a:off x="8458200" y="35661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
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B7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Attempts</a:t>
            </a:r>
            <a:endParaRPr lang="en-US" sz="1800" dirty="0"/>
          </a:p>
        </p:txBody>
      </p:sp>
      <p:sp>
        <p:nvSpPr>
          <p:cNvPr id="44" name="Text 42"/>
          <p:cNvSpPr txBox="1"/>
          <p:nvPr/>
        </p:nvSpPr>
        <p:spPr>
          <a:xfrm>
            <a:off x="9875520" y="35661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
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B7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9144000" y="4343400"/>
            <a:ext cx="0" cy="228600"/>
          </a:xfrm>
          <a:prstGeom prst="line">
            <a:avLst/>
          </a:prstGeom>
          <a:noFill/>
          <a:ln w="25400">
            <a:solidFill>
              <a:srgbClr val="6E66A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10800000">
            <a:off x="9079992" y="4553712"/>
            <a:ext cx="128016" cy="128016"/>
          </a:xfrm>
          <a:prstGeom prst="triangle">
            <a:avLst/>
          </a:prstGeom>
          <a:solidFill>
            <a:srgbClr val="6E66A8"/>
          </a:solidFill>
          <a:ln/>
        </p:spPr>
      </p:sp>
      <p:sp>
        <p:nvSpPr>
          <p:cNvPr id="47" name="Shape 45"/>
          <p:cNvSpPr/>
          <p:nvPr/>
        </p:nvSpPr>
        <p:spPr>
          <a:xfrm>
            <a:off x="7040880" y="4617720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7040880" y="46177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Area Detected: Arrays</a:t>
            </a:r>
            <a:endParaRPr lang="en-US" sz="1250" dirty="0"/>
          </a:p>
        </p:txBody>
      </p:sp>
      <p:sp>
        <p:nvSpPr>
          <p:cNvPr id="49" name="Text 47"/>
          <p:cNvSpPr txBox="1"/>
          <p:nvPr/>
        </p:nvSpPr>
        <p:spPr>
          <a:xfrm>
            <a:off x="7040880" y="52120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4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Array Problems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4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Array Tutorial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4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Beginner Quiz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6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Learning Management System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6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Modules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4F1FD"/>
          </a:solidFill>
          <a:ln w="19050">
            <a:solidFill>
              <a:srgbClr val="E7E1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194310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91640" y="19431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603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97180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Registration / Login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30098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Profile &amp; Progress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63016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Course Access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95935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Quiz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10712" y="169164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4F1FD"/>
          </a:solidFill>
          <a:ln w="19050">
            <a:solidFill>
              <a:srgbClr val="E7E1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62272" y="194310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462272" y="19431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410712" y="25603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3639312" y="297180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Create Courses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639312" y="330098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Upload Content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639312" y="363016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Create Quizzes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639312" y="395935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Monitor Students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81344" y="169164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4F1FD"/>
          </a:solidFill>
          <a:ln w="19050">
            <a:solidFill>
              <a:srgbClr val="E7E1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32904" y="194310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232904" y="19431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181344" y="25603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6409944" y="297180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User Management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409944" y="330098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Course Management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409944" y="363016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System Monitoring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951976" y="169164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1B1640"/>
          </a:solidFill>
          <a:ln w="19050">
            <a:solidFill>
              <a:srgbClr val="1B164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03536" y="194310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003536" y="19431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8951976" y="25603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Module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9180576" y="297180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Performance Analysis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9180576" y="330098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Recommendation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180576" y="363016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Weak-Topic Detection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9180576" y="395935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Prediction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4663440"/>
            <a:ext cx="10881360" cy="1600200"/>
          </a:xfrm>
          <a:prstGeom prst="roundRect">
            <a:avLst>
              <a:gd name="adj" fmla="val 5714"/>
            </a:avLst>
          </a:prstGeom>
          <a:solidFill>
            <a:srgbClr val="F4F1FD"/>
          </a:solidFill>
          <a:ln w="19050">
            <a:solidFill>
              <a:srgbClr val="E7E1F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144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DASHBOARD — PREVIEW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914400" y="51206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1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
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716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Progress</a:t>
            </a:r>
            <a:endParaRPr lang="en-US" sz="2400" dirty="0"/>
          </a:p>
        </p:txBody>
      </p:sp>
      <p:sp>
        <p:nvSpPr>
          <p:cNvPr id="38" name="Text 36"/>
          <p:cNvSpPr txBox="1"/>
          <p:nvPr/>
        </p:nvSpPr>
        <p:spPr>
          <a:xfrm>
            <a:off x="3108960" y="52120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Topics
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HTML   ✓ CSS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6035040" y="52120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Improvement
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Java Arrays   ⚠ DBMS Joins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9281160" y="52120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Recommendations
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Practice Arrays   → Take DBMS Quiz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6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Learning Management System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6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Evaluation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TESTING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60350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103120"/>
                <a:gridCol w="23774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6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1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3B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credentials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3B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opens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1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3B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 answers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3B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generated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1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3B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course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3B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displayed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1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3B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quiz score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3B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 generated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1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3B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progress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3B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Updated statistics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EVALUATION METRICS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4480560"/>
            <a:ext cx="10972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DDD7F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13232" y="4480560"/>
            <a:ext cx="9509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856232" y="4480560"/>
            <a:ext cx="10972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DDD7F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929384" y="4480560"/>
            <a:ext cx="9509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072384" y="4480560"/>
            <a:ext cx="10972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DDD7F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145536" y="4480560"/>
            <a:ext cx="9509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288536" y="4480560"/>
            <a:ext cx="10972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DDD7F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361688" y="4480560"/>
            <a:ext cx="9509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504688" y="4480560"/>
            <a:ext cx="10972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DDD7F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577840" y="4480560"/>
            <a:ext cx="9509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56235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16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Report expected outcomes for metrics not yet measured — do not state unverified figures.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995160" y="1508760"/>
            <a:ext cx="4572000" cy="3611880"/>
          </a:xfrm>
          <a:prstGeom prst="roundRect">
            <a:avLst>
              <a:gd name="adj" fmla="val 2532"/>
            </a:avLst>
          </a:prstGeom>
          <a:solidFill>
            <a:srgbClr val="1B164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0" y="1691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 IMPACT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7315200" y="2103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7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AI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7315200" y="2395728"/>
            <a:ext cx="3931920" cy="201168"/>
          </a:xfrm>
          <a:prstGeom prst="roundRect">
            <a:avLst>
              <a:gd name="adj" fmla="val 18182"/>
            </a:avLst>
          </a:prstGeom>
          <a:solidFill>
            <a:srgbClr val="241D5C"/>
          </a:solidFill>
          <a:ln/>
        </p:spPr>
      </p:sp>
      <p:sp>
        <p:nvSpPr>
          <p:cNvPr id="22" name="Shape 19"/>
          <p:cNvSpPr/>
          <p:nvPr/>
        </p:nvSpPr>
        <p:spPr>
          <a:xfrm>
            <a:off x="7315200" y="2395728"/>
            <a:ext cx="1179576" cy="201168"/>
          </a:xfrm>
          <a:prstGeom prst="roundRect">
            <a:avLst>
              <a:gd name="adj" fmla="val 18182"/>
            </a:avLst>
          </a:prstGeom>
          <a:solidFill>
            <a:srgbClr val="6E66A8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315200" y="26334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personalization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7315200" y="3108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AI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7315200" y="3401568"/>
            <a:ext cx="3931920" cy="201168"/>
          </a:xfrm>
          <a:prstGeom prst="roundRect">
            <a:avLst>
              <a:gd name="adj" fmla="val 18182"/>
            </a:avLst>
          </a:prstGeom>
          <a:solidFill>
            <a:srgbClr val="241D5C"/>
          </a:solidFill>
          <a:ln/>
        </p:spPr>
      </p:sp>
      <p:sp>
        <p:nvSpPr>
          <p:cNvPr id="26" name="Shape 23"/>
          <p:cNvSpPr/>
          <p:nvPr/>
        </p:nvSpPr>
        <p:spPr>
          <a:xfrm>
            <a:off x="7315200" y="3401568"/>
            <a:ext cx="3538728" cy="201168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315200" y="36393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personalization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315200" y="4069080"/>
            <a:ext cx="3931920" cy="0"/>
          </a:xfrm>
          <a:prstGeom prst="line">
            <a:avLst/>
          </a:prstGeom>
          <a:noFill/>
          <a:ln w="12700">
            <a:solidFill>
              <a:srgbClr val="3B336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315200" y="42245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Weak Topic Detection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7315200" y="45445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Personalized Recommendation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7315200" y="48646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Better Learning Path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6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Learning Management System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6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6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114800"/>
            <a:ext cx="5029200" cy="5029200"/>
          </a:xfrm>
          <a:prstGeom prst="ellipse">
            <a:avLst/>
          </a:prstGeom>
          <a:solidFill>
            <a:srgbClr val="241D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046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04088" y="1938528"/>
            <a:ext cx="329184" cy="32918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04088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920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personalized learning for every student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04088" y="2468880"/>
            <a:ext cx="329184" cy="32918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04088" y="2468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4505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individual student weaknesses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04088" y="2999232"/>
            <a:ext cx="329184" cy="32918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04088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98094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AI-based, targeted recommendations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04088" y="3529584"/>
            <a:ext cx="329184" cy="32918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04088" y="35295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51129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students track and improve performance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15544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1920240"/>
            <a:ext cx="2514600" cy="566928"/>
          </a:xfrm>
          <a:prstGeom prst="roundRect">
            <a:avLst>
              <a:gd name="adj" fmla="val 11290"/>
            </a:avLst>
          </a:prstGeom>
          <a:solidFill>
            <a:srgbClr val="241D5C"/>
          </a:solidFill>
          <a:ln w="12700">
            <a:solidFill>
              <a:srgbClr val="3B336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192024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/ virtual tutor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06840" y="1920240"/>
            <a:ext cx="2514600" cy="566928"/>
          </a:xfrm>
          <a:prstGeom prst="roundRect">
            <a:avLst>
              <a:gd name="adj" fmla="val 11290"/>
            </a:avLst>
          </a:prstGeom>
          <a:solidFill>
            <a:srgbClr val="241D5C"/>
          </a:solidFill>
          <a:ln w="12700">
            <a:solidFill>
              <a:srgbClr val="3B336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0" y="192024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Voice-based learning assistant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63640" y="2624328"/>
            <a:ext cx="2514600" cy="566928"/>
          </a:xfrm>
          <a:prstGeom prst="roundRect">
            <a:avLst>
              <a:gd name="adj" fmla="val 11290"/>
            </a:avLst>
          </a:prstGeom>
          <a:solidFill>
            <a:srgbClr val="241D5C"/>
          </a:solidFill>
          <a:ln w="12700">
            <a:solidFill>
              <a:srgbClr val="3B336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0" y="262432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&amp; engagement detection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006840" y="2624328"/>
            <a:ext cx="2514600" cy="566928"/>
          </a:xfrm>
          <a:prstGeom prst="roundRect">
            <a:avLst>
              <a:gd name="adj" fmla="val 11290"/>
            </a:avLst>
          </a:prstGeom>
          <a:solidFill>
            <a:srgbClr val="241D5C"/>
          </a:solidFill>
          <a:ln w="12700">
            <a:solidFill>
              <a:srgbClr val="3B336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44000" y="262432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adaptive learning paths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63640" y="3328416"/>
            <a:ext cx="2514600" cy="566928"/>
          </a:xfrm>
          <a:prstGeom prst="roundRect">
            <a:avLst>
              <a:gd name="adj" fmla="val 11290"/>
            </a:avLst>
          </a:prstGeom>
          <a:solidFill>
            <a:srgbClr val="241D5C"/>
          </a:solidFill>
          <a:ln w="12700">
            <a:solidFill>
              <a:srgbClr val="3B336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0" y="3328416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006840" y="3328416"/>
            <a:ext cx="2514600" cy="566928"/>
          </a:xfrm>
          <a:prstGeom prst="roundRect">
            <a:avLst>
              <a:gd name="adj" fmla="val 11290"/>
            </a:avLst>
          </a:prstGeom>
          <a:solidFill>
            <a:srgbClr val="241D5C"/>
          </a:solidFill>
          <a:ln w="12700">
            <a:solidFill>
              <a:srgbClr val="3B336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144000" y="3328416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&amp; leaderboards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0080" y="4617720"/>
            <a:ext cx="10881360" cy="0"/>
          </a:xfrm>
          <a:prstGeom prst="line">
            <a:avLst/>
          </a:prstGeom>
          <a:noFill/>
          <a:ln w="12700">
            <a:solidFill>
              <a:srgbClr val="3B336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" y="48006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E7E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goal is to transform a traditional LMS into an intelligent learning assistant that understands each student's learning needs.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56235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7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7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Learning Management System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2026-09-15T04:12:48Z</dcterms:created>
  <dcterms:modified xsi:type="dcterms:W3CDTF">2026-09-15T04:12:48Z</dcterms:modified>
</cp:coreProperties>
</file>