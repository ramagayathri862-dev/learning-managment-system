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38912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22860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</p:sp>
      <p:pic>
        <p:nvPicPr>
          <p:cNvPr id="5" name="Image 0" descr="kl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66928"/>
            <a:ext cx="2066544" cy="8321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28600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DBE &amp; DSD  •  PROJECT REVIEW – 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2670048"/>
            <a:ext cx="11155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Management System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566928" y="358444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9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Digital Platform for Course Delivery, Assessment &amp; Progress Tracking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66928" y="40416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Number: __________   (please fill in)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66928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Code / Title:  25CS1302E  —  DBE &amp; DSD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4800600"/>
            <a:ext cx="64008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77240" y="4919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77240" y="5257800"/>
            <a:ext cx="118872" cy="11887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4" name="Text 11"/>
          <p:cNvSpPr/>
          <p:nvPr/>
        </p:nvSpPr>
        <p:spPr>
          <a:xfrm>
            <a:off x="1005840" y="512978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Gayathri   </a:t>
            </a:r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2510030213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3794760" y="5257800"/>
            <a:ext cx="118872" cy="11887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6" name="Text 13"/>
          <p:cNvSpPr/>
          <p:nvPr/>
        </p:nvSpPr>
        <p:spPr>
          <a:xfrm>
            <a:off x="4023360" y="512978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Srivalli   </a:t>
            </a:r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2510030109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77240" y="5824728"/>
            <a:ext cx="118872" cy="11887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8" name="Text 15"/>
          <p:cNvSpPr/>
          <p:nvPr/>
        </p:nvSpPr>
        <p:spPr>
          <a:xfrm>
            <a:off x="1005840" y="569671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Charika   </a:t>
            </a:r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2510030285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3794760" y="5824728"/>
            <a:ext cx="118872" cy="11887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0" name="Text 17"/>
          <p:cNvSpPr/>
          <p:nvPr/>
        </p:nvSpPr>
        <p:spPr>
          <a:xfrm>
            <a:off x="4023360" y="569671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Chandana   </a:t>
            </a:r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2510030376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7223760" y="4800600"/>
            <a:ext cx="4434840" cy="1600200"/>
          </a:xfrm>
          <a:prstGeom prst="roundRect">
            <a:avLst>
              <a:gd name="adj" fmla="val 4571"/>
            </a:avLst>
          </a:prstGeom>
          <a:solidFill>
            <a:srgbClr val="065A82"/>
          </a:solidFill>
          <a:ln/>
        </p:spPr>
      </p:sp>
      <p:sp>
        <p:nvSpPr>
          <p:cNvPr id="22" name="Text 19"/>
          <p:cNvSpPr/>
          <p:nvPr/>
        </p:nvSpPr>
        <p:spPr>
          <a:xfrm>
            <a:off x="7452360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452360" y="52120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Rafeeq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7452360" y="577900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DBE &amp; DSD (25CS1302E)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12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603504" cy="6035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63040" y="158191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problem?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463040" y="2029968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materials, assignments, grades and communication are scattered across email, WhatsApp groups, printed handouts and disconnected tools — there is no single, organized digital space for a course.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3127248"/>
            <a:ext cx="603504" cy="6035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127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463040" y="30632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this problem important?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463040" y="3511296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tools cause delayed feedback, lost assignments, poor visibility into student performance, and inefficient faculty-student communication — directly affecting learning outcomes.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40080" y="4608576"/>
            <a:ext cx="603504" cy="6035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60857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◠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463040" y="454456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facing this problem?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463040" y="4992624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struggling to track deadlines and materials, faculty overloaded with manual grading/record-keeping, and institutions lacking centralized performance data.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Management System  |  25CS1302E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29284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 •  SOCIETAL NEED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12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 for the Project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27000" dist="38100" dir="5400000">
              <a:srgbClr val="1B27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Needed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demand for structured online/hybrid learning after growth in remote education; institutions need one platform for content, assessment and tracking.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434840" y="173736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27000" dist="38100" dir="5400000">
              <a:srgbClr val="1B2733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20574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09160" y="28803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709160" y="338328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get organized access to materials and feedback; faculty save time on grading and record-keeping; institutions gain reliable performance data.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321040" y="173736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27000" dist="38100" dir="5400000">
              <a:srgbClr val="1B2733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41080" y="20574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64108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595360" y="28803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Society / Industry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595360" y="338328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learning accessibility, standardizes evaluation, reduces paperwork, and supports data-driven academic decisions at scale.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Management System  |  25CS1302E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29284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12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37944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37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1691640"/>
            <a:ext cx="9921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develop a centralized web-based platform for delivering course content, notes and resources.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660904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80720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807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08760" y="2660904"/>
            <a:ext cx="9921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secure authentication with role-based access for students, faculty and administrators.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630168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3776472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776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08760" y="3630168"/>
            <a:ext cx="9921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assignment submission, automated grading support, and quiz/evaluation modules.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599432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4745736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7457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08760" y="4599432"/>
            <a:ext cx="9921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Facilitate real-time communication through announcements and notifications between faculty and students.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568696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57150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5715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508760" y="5568696"/>
            <a:ext cx="9921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analytical dashboards/reports on student progress and course engagement for informed decisions.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Management System  |  25CS1302E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29284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12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 / Methodology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Learning Management System with role-specific dashboards (Student / Faculty / Admin), a central database for courses, content and grades, and an evaluation engine for assignments and quizzes.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1691640" cy="1005840"/>
          </a:xfrm>
          <a:prstGeom prst="roundRect">
            <a:avLst>
              <a:gd name="adj" fmla="val 8182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42316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221992" y="2816352"/>
            <a:ext cx="219456" cy="219456"/>
          </a:xfrm>
          <a:prstGeom prst="rightArrow">
            <a:avLst/>
          </a:prstGeom>
          <a:solidFill>
            <a:srgbClr val="F2A541"/>
          </a:solidFill>
          <a:ln/>
        </p:spPr>
      </p:sp>
      <p:sp>
        <p:nvSpPr>
          <p:cNvPr id="8" name="Shape 6"/>
          <p:cNvSpPr/>
          <p:nvPr/>
        </p:nvSpPr>
        <p:spPr>
          <a:xfrm>
            <a:off x="2423160" y="2423160"/>
            <a:ext cx="1691640" cy="1005840"/>
          </a:xfrm>
          <a:prstGeom prst="roundRect">
            <a:avLst>
              <a:gd name="adj" fmla="val 8182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242316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96512" y="2816352"/>
            <a:ext cx="219456" cy="219456"/>
          </a:xfrm>
          <a:prstGeom prst="rightArrow">
            <a:avLst/>
          </a:prstGeom>
          <a:solidFill>
            <a:srgbClr val="F2A541"/>
          </a:solidFill>
          <a:ln/>
        </p:spPr>
      </p:sp>
      <p:sp>
        <p:nvSpPr>
          <p:cNvPr id="11" name="Shape 9"/>
          <p:cNvSpPr/>
          <p:nvPr/>
        </p:nvSpPr>
        <p:spPr>
          <a:xfrm>
            <a:off x="4297680" y="2423160"/>
            <a:ext cx="1691640" cy="1005840"/>
          </a:xfrm>
          <a:prstGeom prst="roundRect">
            <a:avLst>
              <a:gd name="adj" fmla="val 8182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242316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&amp;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Mgmt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71032" y="2816352"/>
            <a:ext cx="219456" cy="219456"/>
          </a:xfrm>
          <a:prstGeom prst="rightArrow">
            <a:avLst/>
          </a:prstGeom>
          <a:solidFill>
            <a:srgbClr val="F2A541"/>
          </a:solidFill>
          <a:ln/>
        </p:spPr>
      </p:sp>
      <p:sp>
        <p:nvSpPr>
          <p:cNvPr id="14" name="Shape 12"/>
          <p:cNvSpPr/>
          <p:nvPr/>
        </p:nvSpPr>
        <p:spPr>
          <a:xfrm>
            <a:off x="6172200" y="2423160"/>
            <a:ext cx="1691640" cy="1005840"/>
          </a:xfrm>
          <a:prstGeom prst="roundRect">
            <a:avLst>
              <a:gd name="adj" fmla="val 8182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242316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/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Submission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845552" y="2816352"/>
            <a:ext cx="219456" cy="219456"/>
          </a:xfrm>
          <a:prstGeom prst="rightArrow">
            <a:avLst/>
          </a:prstGeom>
          <a:solidFill>
            <a:srgbClr val="F2A541"/>
          </a:solidFill>
          <a:ln/>
        </p:spPr>
      </p:sp>
      <p:sp>
        <p:nvSpPr>
          <p:cNvPr id="17" name="Shape 15"/>
          <p:cNvSpPr/>
          <p:nvPr/>
        </p:nvSpPr>
        <p:spPr>
          <a:xfrm>
            <a:off x="8046720" y="2423160"/>
            <a:ext cx="1691640" cy="1005840"/>
          </a:xfrm>
          <a:prstGeom prst="roundRect">
            <a:avLst>
              <a:gd name="adj" fmla="val 8182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8092440" y="242316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&amp;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720072" y="2816352"/>
            <a:ext cx="219456" cy="219456"/>
          </a:xfrm>
          <a:prstGeom prst="rightArrow">
            <a:avLst/>
          </a:prstGeom>
          <a:solidFill>
            <a:srgbClr val="F2A541"/>
          </a:solidFill>
          <a:ln/>
        </p:spPr>
      </p:sp>
      <p:sp>
        <p:nvSpPr>
          <p:cNvPr id="20" name="Shape 18"/>
          <p:cNvSpPr/>
          <p:nvPr/>
        </p:nvSpPr>
        <p:spPr>
          <a:xfrm>
            <a:off x="9921240" y="2423160"/>
            <a:ext cx="1691640" cy="1005840"/>
          </a:xfrm>
          <a:prstGeom prst="roundRect">
            <a:avLst>
              <a:gd name="adj" fmla="val 8182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9966960" y="242316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MODULES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1572768" cy="21945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15568" y="4325112"/>
            <a:ext cx="438912" cy="438912"/>
          </a:xfrm>
          <a:prstGeom prst="ellipse">
            <a:avLst/>
          </a:prstGeom>
          <a:solidFill>
            <a:srgbClr val="12213E"/>
          </a:solidFill>
          <a:ln/>
        </p:spPr>
      </p:sp>
      <p:sp>
        <p:nvSpPr>
          <p:cNvPr id="25" name="Text 23"/>
          <p:cNvSpPr/>
          <p:nvPr/>
        </p:nvSpPr>
        <p:spPr>
          <a:xfrm>
            <a:off x="1115568" y="43251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3504" y="4855464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Mgmt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03504" y="55321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profiles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76272" y="4160520"/>
            <a:ext cx="1572768" cy="21945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0" y="4325112"/>
            <a:ext cx="438912" cy="438912"/>
          </a:xfrm>
          <a:prstGeom prst="ellipse">
            <a:avLst/>
          </a:prstGeom>
          <a:solidFill>
            <a:srgbClr val="12213E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0" y="43251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231136" y="4855464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Mgmt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2231136" y="55321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courses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803904" y="4160520"/>
            <a:ext cx="1572768" cy="21945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70832" y="4325112"/>
            <a:ext cx="438912" cy="438912"/>
          </a:xfrm>
          <a:prstGeom prst="ellipse">
            <a:avLst/>
          </a:prstGeom>
          <a:solidFill>
            <a:srgbClr val="12213E"/>
          </a:solidFill>
          <a:ln/>
        </p:spPr>
      </p:sp>
      <p:sp>
        <p:nvSpPr>
          <p:cNvPr id="35" name="Text 33"/>
          <p:cNvSpPr/>
          <p:nvPr/>
        </p:nvSpPr>
        <p:spPr>
          <a:xfrm>
            <a:off x="4370832" y="43251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858768" y="4855464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3858768" y="55321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&amp; videos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31536" y="4160520"/>
            <a:ext cx="1572768" cy="21945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98464" y="4325112"/>
            <a:ext cx="438912" cy="438912"/>
          </a:xfrm>
          <a:prstGeom prst="ellipse">
            <a:avLst/>
          </a:prstGeom>
          <a:solidFill>
            <a:srgbClr val="12213E"/>
          </a:solidFill>
          <a:ln/>
        </p:spPr>
      </p:sp>
      <p:sp>
        <p:nvSpPr>
          <p:cNvPr id="40" name="Text 38"/>
          <p:cNvSpPr/>
          <p:nvPr/>
        </p:nvSpPr>
        <p:spPr>
          <a:xfrm>
            <a:off x="5998464" y="43251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486400" y="4855464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Assignment/Quiz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5486400" y="55321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059168" y="4160520"/>
            <a:ext cx="1572768" cy="21945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626096" y="4325112"/>
            <a:ext cx="438912" cy="438912"/>
          </a:xfrm>
          <a:prstGeom prst="ellipse">
            <a:avLst/>
          </a:prstGeom>
          <a:solidFill>
            <a:srgbClr val="12213E"/>
          </a:solidFill>
          <a:ln/>
        </p:spPr>
      </p:sp>
      <p:sp>
        <p:nvSpPr>
          <p:cNvPr id="45" name="Text 43"/>
          <p:cNvSpPr/>
          <p:nvPr/>
        </p:nvSpPr>
        <p:spPr>
          <a:xfrm>
            <a:off x="7626096" y="43251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114032" y="4855464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7114032" y="55321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&amp; feedback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686800" y="4160520"/>
            <a:ext cx="1572768" cy="21945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253728" y="4325112"/>
            <a:ext cx="438912" cy="438912"/>
          </a:xfrm>
          <a:prstGeom prst="ellipse">
            <a:avLst/>
          </a:prstGeom>
          <a:solidFill>
            <a:srgbClr val="12213E"/>
          </a:solidFill>
          <a:ln/>
        </p:spPr>
      </p:sp>
      <p:sp>
        <p:nvSpPr>
          <p:cNvPr id="50" name="Text 48"/>
          <p:cNvSpPr/>
          <p:nvPr/>
        </p:nvSpPr>
        <p:spPr>
          <a:xfrm>
            <a:off x="9253728" y="43251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741664" y="4855464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8741664" y="55321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10314432" y="4160520"/>
            <a:ext cx="1572768" cy="21945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881360" y="4325112"/>
            <a:ext cx="438912" cy="438912"/>
          </a:xfrm>
          <a:prstGeom prst="ellipse">
            <a:avLst/>
          </a:prstGeom>
          <a:solidFill>
            <a:srgbClr val="12213E"/>
          </a:solidFill>
          <a:ln/>
        </p:spPr>
      </p:sp>
      <p:sp>
        <p:nvSpPr>
          <p:cNvPr id="55" name="Text 53"/>
          <p:cNvSpPr/>
          <p:nvPr/>
        </p:nvSpPr>
        <p:spPr>
          <a:xfrm>
            <a:off x="10881360" y="43251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0369296" y="4855464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10369296" y="55321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Management System  |  25CS1302E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1129284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12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Analysis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29000" cy="4709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Requirements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3364992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32004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/ Desktop (development &amp; hosting)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4233672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0690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/ Sensors — Not required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5102352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9377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/ Arduino — Not applicable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343400" y="1600200"/>
            <a:ext cx="3429000" cy="4709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7720" y="187452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&lt;&gt;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72000" y="26060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72000" y="324612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2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Languages: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JS, Python / Java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0" y="381304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2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/ Tools: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Code, Git &amp; GitHub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0" y="4379976"/>
            <a:ext cx="2971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2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React.js; Node.js/Express or Django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0" y="516636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2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MongoDB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0" y="573328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2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Libraries: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API, Bootstrap, JWT Auth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138160" y="1600200"/>
            <a:ext cx="3429000" cy="4709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187452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0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366760" y="26060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8366760" y="3291840"/>
            <a:ext cx="2971800" cy="530352"/>
          </a:xfrm>
          <a:prstGeom prst="roundRect">
            <a:avLst>
              <a:gd name="adj" fmla="val 10345"/>
            </a:avLst>
          </a:prstGeom>
          <a:solidFill>
            <a:srgbClr val="F2F5F7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3291840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Public Dataset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8366760" y="3941064"/>
            <a:ext cx="2971800" cy="530352"/>
          </a:xfrm>
          <a:prstGeom prst="roundRect">
            <a:avLst>
              <a:gd name="adj" fmla="val 10345"/>
            </a:avLst>
          </a:prstGeom>
          <a:solidFill>
            <a:srgbClr val="F2F5F7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3941064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Self-Collected Dataset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8366760" y="4590288"/>
            <a:ext cx="2971800" cy="530352"/>
          </a:xfrm>
          <a:prstGeom prst="roundRect">
            <a:avLst>
              <a:gd name="adj" fmla="val 10345"/>
            </a:avLst>
          </a:prstGeom>
          <a:solidFill>
            <a:srgbClr val="F2F5F7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590288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API Data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8366760" y="5239512"/>
            <a:ext cx="2971800" cy="530352"/>
          </a:xfrm>
          <a:prstGeom prst="roundRect">
            <a:avLst>
              <a:gd name="adj" fmla="val 10345"/>
            </a:avLst>
          </a:prstGeom>
          <a:solidFill>
            <a:srgbClr val="E7F3EC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5239512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Dataset Required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366760" y="5934456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uses live, user-generated academic data (courses, submissions, grades) created during use — no external dataset required.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Management System  |  25CS1302E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29284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023360"/>
            <a:ext cx="5029200" cy="50292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Novelty of the Project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08760" y="183794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Unique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2286000"/>
            <a:ext cx="10104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9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lightweight platform that unifies content delivery, assessments, communication and analytics — tailored to the institution's own courses rather than a generic, one-size-fits-all tool.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3375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508760" y="330098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from Existing Solutions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08760" y="3749040"/>
            <a:ext cx="10104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9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bulky commercial LMS platforms (e.g. Moodle, Google Classroom), this system offers a simpler, customizable, and cost-effective architecture built specifically around the department's workflow.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8006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800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508760" y="476402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 / Improvement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08760" y="5212080"/>
            <a:ext cx="10104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9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real-time analytics dashboard for tracking student progress, role-based smart notifications, and an easily extensible module structure for future AI-driven insights.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48640" y="63093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2026-07-31T10:11:07Z</dcterms:created>
  <dcterms:modified xsi:type="dcterms:W3CDTF">2026-07-31T10:11:07Z</dcterms:modified>
</cp:coreProperties>
</file>