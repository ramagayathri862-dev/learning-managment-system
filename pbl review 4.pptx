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Calibri"/>
              </a:rPr>
              <a:t>REST endpoints by module (60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spPr>
            <a:solidFill>
              <a:srgbClr val="4338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Auth</c:v>
                  </c:pt>
                  <c:pt idx="1">
                    <c:v>Shared</c:v>
                  </c:pt>
                  <c:pt idx="2">
                    <c:v>Student</c:v>
                  </c:pt>
                  <c:pt idx="3">
                    <c:v>Faculty</c:v>
                  </c:pt>
                  <c:pt idx="4">
                    <c:v>Admin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13</c:v>
                </c:pt>
                <c:pt idx="2">
                  <c:v>8</c:v>
                </c:pt>
                <c:pt idx="3">
                  <c:v>17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 and mentor. Replace [Faculty Mentor Name] with your mentor's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objectives. Each one is implemented in the code: JWT role checks, auto-graded quizzes, rule-based insights in services.py.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 left to right: requirements, database, API, UI, integration,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as listed in package.json, requirements.txt and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path: User -&gt; React frontend -&gt; Flask API (JWT + role check) -&gt; SQLAlchemy -&gt; database, then JSON response back to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app (python seed.py --reset; python app.py; npm run dev). Log in with the demo accounts on the login page and take screenshots: Login; Student dashboard (chandana@lms.edu); Faculty attendance (meera@lms.edu); Admin &gt; Users form; Admin dashboard; Student Grades or Admin Reports. Delete the dashed frame and insert each image in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are implemented in the code: see routes/auth.py, admin.py, faculty.py, student.py and services.py.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cases come from backend/tests/test_smoke.py (6 test functions, 35 assertions). Run 'pytest tests' before the review and confirm all pass; update Status if any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counts come from test_smoke.py. Run: cd backend &amp;&amp; python measure_performance.py. It prints the average response time per endpoint and the error rate. Type those values into the table. Also confirm the pass count by running pytest.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uses real counts from the route files. Faculty and Admin have the most endpoints because they create and manage data. Roughly 3,200 lines of code: 1,679 backend, 1,519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panel. The ML plug-in point already exists in services.py.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hot1" Type="http://schemas.openxmlformats.org/officeDocument/2006/relationships/image" Target="../media/shot1.png"/><Relationship Id="rIdShot2" Type="http://schemas.openxmlformats.org/officeDocument/2006/relationships/image" Target="../media/shot2.png"/><Relationship Id="rIdShot3" Type="http://schemas.openxmlformats.org/officeDocument/2006/relationships/image" Target="../media/shot3.png"/><Relationship Id="rIdShot4" Type="http://schemas.openxmlformats.org/officeDocument/2006/relationships/image" Target="../media/shot4.png"/><Relationship Id="rIdShot5" Type="http://schemas.openxmlformats.org/officeDocument/2006/relationships/image" Target="../media/shot5.png"/><Relationship Id="rIdShot6" Type="http://schemas.openxmlformats.org/officeDocument/2006/relationships/image" Target="../media/shot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 |  REVIEW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LMS: Learning Management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for Students, Faculty and Admin built with React, Flask and PostgreSQL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Mentor Name]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721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97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41970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Gayathri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621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25880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52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academic work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563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attendance, assignments, quizzes, grades, materials and online classes.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252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563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Student, Faculty and Admin portals, with permissions enforced on the server using JWT.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496312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assessment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734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are auto-graded on the server and marks are converted to grades automatically.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13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2496312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803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at-risk students early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734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 for low attendance or marks; faculty get an at-risk list per subject.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83864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666744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and files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39044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open only to members of a subject; uploads are type-checked and limited to 25 MB.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483864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666744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administration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9044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users, departments, subjects, enrollments and timetables in one place.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" y="155448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needs of students, faculty and admins; listed features per role.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1737360"/>
            <a:ext cx="146304" cy="0"/>
          </a:xfrm>
          <a:prstGeom prst="line">
            <a:avLst/>
          </a:prstGeom>
          <a:noFill/>
          <a:ln w="22225">
            <a:solidFill>
              <a:srgbClr val="4338C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7452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8860" y="155448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088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15 related tables (users, subjects, attendance, quizzes, marks...) with SQLAlchemy.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27248" y="1737360"/>
            <a:ext cx="146304" cy="0"/>
          </a:xfrm>
          <a:prstGeom prst="line">
            <a:avLst/>
          </a:prstGeom>
          <a:noFill/>
          <a:ln w="22225">
            <a:solidFill>
              <a:srgbClr val="4338C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26180" y="155448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261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Flask REST routes in five modules with JWT login and role checks.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44568" y="1737360"/>
            <a:ext cx="146304" cy="0"/>
          </a:xfrm>
          <a:prstGeom prst="line">
            <a:avLst/>
          </a:prstGeom>
          <a:noFill/>
          <a:ln w="22225">
            <a:solidFill>
              <a:srgbClr val="4338C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0916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0" y="155448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435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24 React pages with React Router, one portal per role.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61888" y="1737360"/>
            <a:ext cx="146304" cy="0"/>
          </a:xfrm>
          <a:prstGeom prst="line">
            <a:avLst/>
          </a:prstGeom>
          <a:noFill/>
          <a:ln w="22225">
            <a:solidFill>
              <a:srgbClr val="4338C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0820" y="155448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608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Security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UI to API; server-side permissions, validation and file rules.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79208" y="1737360"/>
            <a:ext cx="146304" cy="0"/>
          </a:xfrm>
          <a:prstGeom prst="line">
            <a:avLst/>
          </a:prstGeom>
          <a:noFill/>
          <a:ln w="22225">
            <a:solidFill>
              <a:srgbClr val="4338C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43800" y="1371600"/>
            <a:ext cx="1234440" cy="292608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8140" y="15544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781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635240" y="20299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Demo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635240" y="2651760"/>
            <a:ext cx="1051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 for each role flow; seeded demo data for the demonstration.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6263640" cy="621792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0972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 5, React Router 6, custom CSS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105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1810512"/>
            <a:ext cx="6263640" cy="621792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81051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Flask 3, Flask-JWT-Extended (auth), Flask-CORS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237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423160" y="2523744"/>
            <a:ext cx="6263640" cy="621792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252374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(SQLite for quick start), SQLAlchemy ORM, 15 tables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23697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423160" y="3236976"/>
            <a:ext cx="6263640" cy="621792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323697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JSON, 60 endpoints under /api, JWT Bearer token on every protected route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9502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23160" y="3950208"/>
            <a:ext cx="6263640" cy="621792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06040" y="395020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env, Node 18+ / npm, pytest, seed.py for demo data, Vite dev server proxying /api to port 5000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4338CA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3258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 or Admin in a browser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65376" y="1965960"/>
            <a:ext cx="292608" cy="0"/>
          </a:xfrm>
          <a:prstGeom prst="line">
            <a:avLst/>
          </a:prstGeom>
          <a:noFill/>
          <a:ln w="28575">
            <a:solidFill>
              <a:srgbClr val="1E1B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1887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7712" y="13258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Vite. Pages per role; fetch() with JWT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02736" y="1965960"/>
            <a:ext cx="292608" cy="0"/>
          </a:xfrm>
          <a:prstGeom prst="line">
            <a:avLst/>
          </a:prstGeom>
          <a:noFill/>
          <a:ln w="28575">
            <a:solidFill>
              <a:srgbClr val="1E1B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11887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4338CA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05072" y="13258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REST. Verifies JWT and role on every route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0096" y="1965960"/>
            <a:ext cx="292608" cy="0"/>
          </a:xfrm>
          <a:prstGeom prst="line">
            <a:avLst/>
          </a:prstGeom>
          <a:noFill/>
          <a:ln w="28575">
            <a:solidFill>
              <a:srgbClr val="1E1B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11887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42432" y="13258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map Python objects to tables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77456" y="1965960"/>
            <a:ext cx="292608" cy="0"/>
          </a:xfrm>
          <a:prstGeom prst="line">
            <a:avLst/>
          </a:prstGeom>
          <a:noFill/>
          <a:ln w="28575">
            <a:solidFill>
              <a:srgbClr val="1E1B4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11887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4338CA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9792" y="13258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SQLite. 15 tables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548640"/>
          </a:xfrm>
          <a:prstGeom prst="lef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JSON data returns through the API to the React UI, which renders it for the user's role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59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 check on every route; 401 without token, 403 for wrong role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4059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backend/uploads; served only to subject members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4059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Vite proxy. Single-server: Flask serves the built React 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/ Working Demonstration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pic>
        <p:nvPicPr>
          <p:cNvPr id="100" name="Screenshot 1" descr="LMS screen 1"/>
          <p:cNvPicPr>
            <a:picLocks noChangeAspect="1"/>
          </p:cNvPicPr>
          <p:nvPr/>
        </p:nvPicPr>
        <p:blipFill>
          <a:blip r:embed="rIdShot1"/>
          <a:stretch>
            <a:fillRect/>
          </a:stretch>
        </p:blipFill>
        <p:spPr>
          <a:xfrm>
            <a:off x="457200" y="10058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7" name="Text 5"/>
          <p:cNvSpPr txBox="1"/>
          <p:nvPr/>
        </p:nvSpPr>
        <p:spPr>
          <a:xfrm>
            <a:off x="45720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pic>
        <p:nvPicPr>
          <p:cNvPr id="101" name="Screenshot 2" descr="LMS screen 2"/>
          <p:cNvPicPr>
            <a:picLocks noChangeAspect="1"/>
          </p:cNvPicPr>
          <p:nvPr/>
        </p:nvPicPr>
        <p:blipFill>
          <a:blip r:embed="rIdShot2"/>
          <a:stretch>
            <a:fillRect/>
          </a:stretch>
        </p:blipFill>
        <p:spPr>
          <a:xfrm>
            <a:off x="3291840" y="10058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10" name="Text 8"/>
          <p:cNvSpPr txBox="1"/>
          <p:nvPr/>
        </p:nvSpPr>
        <p:spPr>
          <a:xfrm>
            <a:off x="329184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pic>
        <p:nvPicPr>
          <p:cNvPr id="102" name="Screenshot 3" descr="LMS screen 3"/>
          <p:cNvPicPr>
            <a:picLocks noChangeAspect="1"/>
          </p:cNvPicPr>
          <p:nvPr/>
        </p:nvPicPr>
        <p:blipFill>
          <a:blip r:embed="rIdShot3"/>
          <a:stretch>
            <a:fillRect/>
          </a:stretch>
        </p:blipFill>
        <p:spPr>
          <a:xfrm>
            <a:off x="6126480" y="10058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13" name="Text 11"/>
          <p:cNvSpPr txBox="1"/>
          <p:nvPr/>
        </p:nvSpPr>
        <p:spPr>
          <a:xfrm>
            <a:off x="612648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application</a:t>
            </a:r>
            <a:endParaRPr lang="en-US" sz="1200" dirty="0"/>
          </a:p>
        </p:txBody>
      </p:sp>
      <p:pic>
        <p:nvPicPr>
          <p:cNvPr id="103" name="Screenshot 4" descr="LMS screen 4"/>
          <p:cNvPicPr>
            <a:picLocks noChangeAspect="1"/>
          </p:cNvPicPr>
          <p:nvPr/>
        </p:nvPicPr>
        <p:blipFill>
          <a:blip r:embed="rIdShot4"/>
          <a:stretch>
            <a:fillRect/>
          </a:stretch>
        </p:blipFill>
        <p:spPr>
          <a:xfrm>
            <a:off x="457200" y="28346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16" name="Text 14"/>
          <p:cNvSpPr txBox="1"/>
          <p:nvPr/>
        </p:nvSpPr>
        <p:spPr>
          <a:xfrm>
            <a:off x="45720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00" dirty="0"/>
          </a:p>
        </p:txBody>
      </p:sp>
      <p:pic>
        <p:nvPicPr>
          <p:cNvPr id="104" name="Screenshot 5" descr="LMS screen 5"/>
          <p:cNvPicPr>
            <a:picLocks noChangeAspect="1"/>
          </p:cNvPicPr>
          <p:nvPr/>
        </p:nvPicPr>
        <p:blipFill>
          <a:blip r:embed="rIdShot5"/>
          <a:stretch>
            <a:fillRect/>
          </a:stretch>
        </p:blipFill>
        <p:spPr>
          <a:xfrm>
            <a:off x="3291840" y="28346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19" name="Text 17"/>
          <p:cNvSpPr txBox="1"/>
          <p:nvPr/>
        </p:nvSpPr>
        <p:spPr>
          <a:xfrm>
            <a:off x="329184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105" name="Screenshot 6" descr="LMS screen 6"/>
          <p:cNvPicPr>
            <a:picLocks noChangeAspect="1"/>
          </p:cNvPicPr>
          <p:nvPr/>
        </p:nvPicPr>
        <p:blipFill>
          <a:blip r:embed="rIdShot6"/>
          <a:stretch>
            <a:fillRect/>
          </a:stretch>
        </p:blipFill>
        <p:spPr>
          <a:xfrm>
            <a:off x="6126480" y="2834640"/>
            <a:ext cx="2651760" cy="1463040"/>
          </a:xfrm>
          <a:prstGeom prst="rect">
            <a:avLst/>
          </a:prstGeom>
          <a:ln w="12700">
            <a:solidFill>
              <a:srgbClr val="9CA3AF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612648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 page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sign-in for all roles. Self-registration always creates a student account.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subjects, enrollments, timetable, announcements, assignments.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Marks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mark attendance and enter marks for their own subjects; students view percentages and grades.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Quizzes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text submissions with faculty grading and feedback; quizzes auto-scored, one attempt each.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518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Insights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5186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users by role; student alerts (attendance &lt; 75%, average &lt; 50%) and faculty at-risk lists.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834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Files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overview reports; study materials and files shared securely per subject.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201168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(valid)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issued, dashboard opens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successful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(wrong password)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rejected with 401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(401)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role gets 403; no token gets 401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/ 401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created and enrolled in subject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and enrolled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score and feedback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file type, marks above max, invalid time rejected (400)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attempt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Auto-scored; second attempt blocked (409)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correct; 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JSON response for dashboards and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114300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checked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31720" y="25603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43000"/>
          <a:ext cx="4297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/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/api/student/dashboard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attendance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/api/faculty/attendance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/api/admin/reports/overview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table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3891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times: run backend/measure_performance.py and replace the __ ms values.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0972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23560" y="10972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1993392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1993392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9933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889504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288950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88950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across 3 portals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785616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0" y="378561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7856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assertions, all passing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 |  PBL Review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achieved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LMS with Student, Faculty and Admin portals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security: JWT and role checks on every route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quiz grading and rule-based at-risk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automated tests across all three roles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5F7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real ML model for performance prediction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 for deadlines and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and built-in video classes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as PDF / Excel; add analytics charts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Docker, plus pagination and caching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- PBL Review 4</dc:title>
  <dc:subject>PptxGenJS Presentation</dc:subject>
  <dc:creator>PptxGenJS</dc:creator>
  <cp:lastModifiedBy>PptxGenJS</cp:lastModifiedBy>
  <cp:revision>1</cp:revision>
  <dcterms:created xsi:type="dcterms:W3CDTF">2026-09-28T07:37:25Z</dcterms:created>
  <dcterms:modified xsi:type="dcterms:W3CDTF">2026-09-28T07:37:25Z</dcterms:modified>
</cp:coreProperties>
</file>